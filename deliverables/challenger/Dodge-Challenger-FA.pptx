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jpg" ContentType="image/jpe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theme/theme2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IdLst>
    <p:sldId id="256" r:id="rId7"/>
    <p:sldId id="257" r:id="rId8"/>
    <p:sldId id="258" r:id="rId9"/>
    <p:sldId id="259" r:id="rId10"/>
    <p:sldId id="260" r:id="rId11"/>
    <p:sldId id="261" r:id="rId12"/>
    <p:sldId id="262" r:id="rId13"/>
    <p:sldId id="263" r:id="rId14"/>
    <p:sldId id="264" r:id="rId15"/>
    <p:sldId id="265" r:id="rId16"/>
    <p:sldId id="266" r:id="rId17"/>
    <p:sldId id="267" r:id="rId18"/>
    <p:sldId id="268" r:id="rId19"/>
  </p:sld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Relationship Id="rId7" Type="http://schemas.openxmlformats.org/officeDocument/2006/relationships/slide" Target="slides/slide1.xml"/><Relationship Id="rId8" Type="http://schemas.openxmlformats.org/officeDocument/2006/relationships/slide" Target="slides/slide2.xml"/><Relationship Id="rId9" Type="http://schemas.openxmlformats.org/officeDocument/2006/relationships/slide" Target="slides/slide3.xml"/><Relationship Id="rId10" Type="http://schemas.openxmlformats.org/officeDocument/2006/relationships/slide" Target="slides/slide4.xml"/><Relationship Id="rId11" Type="http://schemas.openxmlformats.org/officeDocument/2006/relationships/slide" Target="slides/slide5.xml"/><Relationship Id="rId12" Type="http://schemas.openxmlformats.org/officeDocument/2006/relationships/slide" Target="slides/slide6.xml"/><Relationship Id="rId13" Type="http://schemas.openxmlformats.org/officeDocument/2006/relationships/slide" Target="slides/slide7.xml"/><Relationship Id="rId14" Type="http://schemas.openxmlformats.org/officeDocument/2006/relationships/slide" Target="slides/slide8.xml"/><Relationship Id="rId15" Type="http://schemas.openxmlformats.org/officeDocument/2006/relationships/slide" Target="slides/slide9.xml"/><Relationship Id="rId16" Type="http://schemas.openxmlformats.org/officeDocument/2006/relationships/slide" Target="slides/slide10.xml"/><Relationship Id="rId17" Type="http://schemas.openxmlformats.org/officeDocument/2006/relationships/slide" Target="slides/slide11.xml"/><Relationship Id="rId18" Type="http://schemas.openxmlformats.org/officeDocument/2006/relationships/slide" Target="slides/slide12.xml"/><Relationship Id="rId19" Type="http://schemas.openxmlformats.org/officeDocument/2006/relationships/slide" Target="slides/slide13.xml"/><Relationship Id="rId20" Type="http://schemas.openxmlformats.org/officeDocument/2006/relationships/notesMaster" Target="notesMasters/notesMaster1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Header Placeholder 1"/>
          <p:cNvSpPr>
            <a:spLocks noGrp="1"/>
          </p:cNvSpPr>
          <p:nvPr>
            <p:ph type="hdr" sz="quarter"/>
          </p:nvPr>
        </p:nvSpPr>
        <p:spPr>
          <a:xfrm>
            <a:off x="0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idx="1"/>
          </p:nvPr>
        </p:nvSpPr>
        <p:spPr>
          <a:xfrm>
            <a:off x="3884613" y="0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/>
          <a:lstStyle>
            <a:lvl1pPr algn="r">
              <a:defRPr sz="1200"/>
            </a:lvl1pPr>
          </a:lstStyle>
          <a:p>
            <a:fld id="{0F89C1C7-3DCD-1040-A9CF-14679D8B5DDD}" type="datetimeFigureOut">
              <a:rPr lang="en-US" smtClean="0"/>
              <a:t>10/17/16</a:t>
            </a:fld>
            <a:endParaRPr lang="en-US"/>
          </a:p>
        </p:txBody>
      </p:sp>
      <p:sp>
        <p:nvSpPr>
          <p:cNvPr id="4" name="Slide Image Placeholder 3"/>
          <p:cNvSpPr>
            <a:spLocks noGrp="1" noRot="1" noChangeAspect="1"/>
          </p:cNvSpPr>
          <p:nvPr>
            <p:ph type="sldImg" idx="2"/>
          </p:nvPr>
        </p:nvSpPr>
        <p:spPr>
          <a:xfrm>
            <a:off x="1143000" y="685800"/>
            <a:ext cx="4572000" cy="3429000"/>
          </a:xfrm>
          <a:prstGeom prst="rect">
            <a:avLst/>
          </a:prstGeom>
          <a:noFill/>
          <a:ln w="12700">
            <a:solidFill>
              <a:prstClr val="black"/>
            </a:solidFill>
          </a:ln>
        </p:spPr>
        <p:txBody>
          <a:bodyPr vert="horz" lIns="91440" tIns="45720" rIns="91440" bIns="45720" rtlCol="0" anchor="ctr"/>
          <a:lstStyle/>
          <a:p>
            <a:endParaRPr lang="en-US"/>
          </a:p>
        </p:txBody>
      </p:sp>
      <p:sp>
        <p:nvSpPr>
          <p:cNvPr id="5" name="Notes Placeholder 4"/>
          <p:cNvSpPr>
            <a:spLocks noGrp="1"/>
          </p:cNvSpPr>
          <p:nvPr>
            <p:ph type="body" sz="quarter" idx="3"/>
          </p:nvPr>
        </p:nvSpPr>
        <p:spPr>
          <a:xfrm>
            <a:off x="685800" y="4343400"/>
            <a:ext cx="5486400" cy="4114800"/>
          </a:xfrm>
          <a:prstGeom prst="rect">
            <a:avLst/>
          </a:prstGeom>
        </p:spPr>
        <p:txBody>
          <a:bodyPr vert="horz" lIns="91440" tIns="45720" rIns="91440" bIns="45720" rtlCol="0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4"/>
          </p:nvPr>
        </p:nvSpPr>
        <p:spPr>
          <a:xfrm>
            <a:off x="0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l">
              <a:defRPr sz="1200"/>
            </a:lvl1pPr>
          </a:lstStyle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5"/>
          </p:nvPr>
        </p:nvSpPr>
        <p:spPr>
          <a:xfrm>
            <a:off x="3884613" y="8685213"/>
            <a:ext cx="2971800" cy="457200"/>
          </a:xfrm>
          <a:prstGeom prst="rect">
            <a:avLst/>
          </a:prstGeom>
        </p:spPr>
        <p:txBody>
          <a:bodyPr vert="horz" lIns="91440" tIns="45720" rIns="91440" bIns="45720" rtlCol="0" anchor="b"/>
          <a:lstStyle>
            <a:lvl1pPr algn="r">
              <a:defRPr sz="1200"/>
            </a:lvl1pPr>
          </a:lstStyle>
          <a:p>
            <a:fld id="{BB5E49A5-4136-284D-997B-48E1D791AD67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23252185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2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3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4.xml"/></Relationships>
</file>

<file path=ppt/notesSlides/_rels/notesSlide5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5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6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7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8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9.xml"/></Relationships>
</file>

<file path=ppt/notesSlides/_rels/notesSlide10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0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1.xml"/></Relationships>
</file>

<file path=ppt/notesSlides/_rels/notesSlide12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2.xml"/></Relationships>
</file>

<file path=ppt/notesSlides/_rels/notesSlide13.xml.rels><?xml version='1.0' encoding='UTF-8' standalone='yes'?>
<Relationships xmlns="http://schemas.openxmlformats.org/package/2006/relationships"><Relationship Id="rId1" Type="http://schemas.openxmlformats.org/officeDocument/2006/relationships/notesMaster" Target="../notesMasters/notesMaster1.xml"/><Relationship Id="rId2" Type="http://schemas.openxmlformats.org/officeDocument/2006/relationships/slide" Target="../slides/slide13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 ارائه یک مرور کامل بر دوج چلنجر است: از تولد ۱۹۷۰ تا آخرین نسخهٔ ۲۰۲۳ و جانشین برقی. مخاطب هدف کسی است که یا قصد خرید دارد یا می‌خواهد تاریخچه و جایگاه این خودرو را بداند.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نکتهٔ کلیدی این اسلاید این است که چلنجر سه نسل کاملاً متفاوت با سه نقش متفاوت بوده؛ نامش دو بار خاموش و دوباره زنده شد. مکث روی تفاوت نسل دوم (کوپهٔ کوچک میتسوبیشی) معمولاً بیشترین واکنش را می‌گیرد.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خط طراحی ۱۹۷۰ را با دماغهٔ پهن، جلوپنجرهٔ تمام‌عرض و شانهٔ عقب حجیم توصیف کنید. ۴۲۶ HEMI موتور افسانه‌ای است؛ ۳۴۰ Six Pack نسخهٔ هومولوگیشن مسابقه بود.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چهار نشانهٔ بصری که در هر چهار نسل تکرار شد. اگر مخاطب طراحی‌محور است، روی نسبت عرض به ارتفاع و چراغ‌های گرد تأکید کنید.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5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اینجا نردبان قدرت را نشان می‌دهیم؛ پیام این است که همان بدنه با موتورهای متفاوت از ۳۰۳ تا ۱٬۰۲۵ اسب بخار عرضه شد. نسخه‌های Hellcat و Redeye پرفروش‌ترین نسخه‌های پرهزینه بودند.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دیوانگی مهندسی: ۱٬۰۲۵ اسب بخار از یک موتور ۶.۲ لیتری با E85. اگر از ارقام می‌پرسند، بگویید همهٔ این اعداد رسمی و اعلام‌شدهٔ دوج هستند.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پیام اسلاید: عدد قدرت ثابت نیست و به سوخت بستگی دارد. حسگر اتانول درصد E85 را می‌خواند و نقشهٔ موتور را عوض می‌کند؛ پس ۸۸۰ تا ۱٬۰۲۵ اسب بسته به پمپ بنزین.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صداقت فنی: ۱.۶۶ ثانیه روی آسفالت آمادهٔ پیست و با لاستیک درگ مخصوص به دست آمده. همین موضوع باعث شد NHRA اجرای زیر ۹ ثانیه را بدون تجهیزات ایمنی ممنوع اعلام کند.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مقایسه با رقبا: چلنجر در قدرت اول است، اما در وزن و تعادل پیست عقب‌تر. اگر مخاطب پیست‌رو است، این اسلاید نقطهٔ تصمیم 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0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داده‌ها نشان می‌دهد چلنجر در ۲۰۲۱ و ۲۰۲۲ پرفروش‌ترین عضله‌کار آمریکا بود و در سال آخر افت کرد. منبع، آمار سالانهٔ فروش آمریکاست.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پایان دوره: دسامبر ۲۰۲۳ خط برامپتون بسته شد. جانشین برقی است و دیگر صدای V8 ندارد؛ به همین دلیل امروز این خودرو موضوع علاقهٔ مجموعه‌دارها شده.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2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راهنمای خرید: پنج نکتهٔ عملی. تأکید کنید این فهرست جای بازرسی فنی تخصصی را نمی‌گیرد.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notesSlides/notesSlide13.xml><?xml version="1.0" encoding="utf-8"?>
<p:notes xmlns:a="http://schemas.openxmlformats.org/drawingml/2006/main" xmlns:p="http://schemas.openxmlformats.org/presentationml/2006/main" xmlns:r="http://schemas.openxmlformats.org/officeDocument/2006/relationships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/>
          </p:cNvSpPr>
          <p:nvPr>
            <p:ph type="sldImg" idx="2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3" sz="quarter"/>
          </p:nvPr>
        </p:nvSpPr>
        <p:spPr/>
        <p:txBody>
          <a:bodyPr/>
          <a:lstStyle/>
          <a:p>
            <a:r>
              <a:t>جمع‌بندی در یک جمله: پایان یک دوره، با یک عدد به‌یادماندنی. سپس به پرسش‌ها بروید.</a:t>
            </a:r>
          </a:p>
        </p:txBody>
      </p:sp>
      <p:sp>
        <p:nvSpPr>
          <p:cNvPr id="4" name="Slide Number Placeholder 3"/>
          <p:cNvSpPr>
            <a:spLocks noGrp="1"/>
          </p:cNvSpPr>
          <p:nvPr>
            <p:ph type="sldNum" idx="5" sz="quarter"/>
          </p:nvPr>
        </p:nvSpPr>
        <p:spPr/>
      </p:sp>
    </p:spTree>
  </p:cSld>
  <p:clrMapOvr>
    <a:masterClrMapping/>
  </p:clrMapOvr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685800" y="2130425"/>
            <a:ext cx="7772400" cy="1470025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1371600" y="3886200"/>
            <a:ext cx="6400800" cy="175260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/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457200" y="274638"/>
            <a:ext cx="8229600" cy="114300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600200"/>
            <a:ext cx="8229600" cy="452596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2.jpg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5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3.jpg"/><Relationship Id="rId3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0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4.jpg"/><Relationship Id="rId3" Type="http://schemas.openxmlformats.org/officeDocument/2006/relationships/notesSlide" Target="../notesSlides/notesSlide11.xml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notesSlide" Target="../notesSlides/notesSlide12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7.xml"/><Relationship Id="rId2" Type="http://schemas.openxmlformats.org/officeDocument/2006/relationships/image" Target="../media/image1.jpg"/><Relationship Id="rId3" Type="http://schemas.openxmlformats.org/officeDocument/2006/relationships/notesSlide" Target="../notesSlides/notesSlide13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llca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7">
                  <a:alpha val="30000"/>
                </a:srgbClr>
              </a:gs>
              <a:gs pos="45000">
                <a:srgbClr val="050607">
                  <a:alpha val="55000"/>
                </a:srgbClr>
              </a:gs>
              <a:gs pos="100000">
                <a:srgbClr val="050607">
                  <a:alpha val="88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345936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5120640" y="2962656"/>
            <a:ext cx="6293815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250" b="1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DODGE  CHALLENGER    1970 — 2023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754880" y="3246120"/>
            <a:ext cx="6659575" cy="11887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6000"/>
              </a:lnSpc>
            </a:pPr>
            <a:r>
              <a:rPr sz="7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چلنجر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754880" y="4498848"/>
            <a:ext cx="6659575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0000"/>
              </a:lnSpc>
            </a:pPr>
            <a:r>
              <a:rPr sz="3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پنجاه‌وسه سال وسوسهٔ آمریکایی</a:t>
            </a:r>
          </a:p>
        </p:txBody>
      </p:sp>
      <p:sp>
        <p:nvSpPr>
          <p:cNvPr id="8" name="rule"/>
          <p:cNvSpPr/>
          <p:nvPr/>
        </p:nvSpPr>
        <p:spPr>
          <a:xfrm>
            <a:off x="9859975" y="5193792"/>
            <a:ext cx="1554480" cy="41148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4754880" y="5376672"/>
            <a:ext cx="6659575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0000"/>
              </a:lnSpc>
            </a:pPr>
            <a:r>
              <a:rPr sz="16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از پونی‌کار ۱۹۷۰ تا آخرین عضله‌کار تمام‌بنزینی دوج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5943600"/>
            <a:ext cx="38404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20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آبان ۱۴۰۵  ·  ۱۳ اسلاید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7315200" y="6455664"/>
            <a:ext cx="4099255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9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تصویر: آرشیو عمومی</a:t>
            </a:r>
          </a:p>
        </p:txBody>
      </p:sp>
    </p:spTree>
  </p:cSld>
  <p:clrMapOvr>
    <a:masterClrMapping/>
  </p:clrMapOvr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تاریخچه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152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چلنجر سه بار متولد شد و هر بار نقش تازه‌ای گرفت</a:t>
            </a:r>
          </a:p>
        </p:txBody>
      </p:sp>
      <p:sp>
        <p:nvSpPr>
          <p:cNvPr id="4" name="rule"/>
          <p:cNvSpPr/>
          <p:nvPr/>
        </p:nvSpPr>
        <p:spPr>
          <a:xfrm>
            <a:off x="777240" y="3035808"/>
            <a:ext cx="10637215" cy="18288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8104327" y="2212848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9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۱۹۷۰ — ۱۹۷۴</a:t>
            </a:r>
          </a:p>
        </p:txBody>
      </p:sp>
      <p:sp>
        <p:nvSpPr>
          <p:cNvPr id="6" name="Oval 5"/>
          <p:cNvSpPr/>
          <p:nvPr/>
        </p:nvSpPr>
        <p:spPr>
          <a:xfrm>
            <a:off x="11259007" y="2967228"/>
            <a:ext cx="155448" cy="15544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8104327" y="33101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0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پونی‌کار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8104327" y="3785615"/>
            <a:ext cx="331012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5000"/>
              </a:lnSpc>
            </a:pPr>
            <a:r>
              <a:rPr sz="15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E-body مشترک با باراکودا؛ ۷۶٬۹۳۵ دستگاه در سال اول و در کل ۱۶۵٬۴۳۷ دستگاه.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28439" y="2212848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9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۱۹۷۸ — ۱۹۸۳</a:t>
            </a:r>
          </a:p>
        </p:txBody>
      </p:sp>
      <p:sp>
        <p:nvSpPr>
          <p:cNvPr id="10" name="Oval 9"/>
          <p:cNvSpPr/>
          <p:nvPr/>
        </p:nvSpPr>
        <p:spPr>
          <a:xfrm>
            <a:off x="7583119" y="2967228"/>
            <a:ext cx="155448" cy="155448"/>
          </a:xfrm>
          <a:prstGeom prst="ellipse">
            <a:avLst/>
          </a:prstGeom>
          <a:solidFill>
            <a:srgbClr val="3A404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4428439" y="33101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0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کوپهٔ کوچک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4428439" y="3785615"/>
            <a:ext cx="331012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5000"/>
              </a:lnSpc>
            </a:pPr>
            <a:r>
              <a:rPr sz="15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نسخهٔ بازنشان‌خوردهٔ میتسوبیشی گالانت لامبدا؛ نام چلنجر ۲۵ سال خاموش ماند.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52551" y="2212848"/>
            <a:ext cx="3310128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9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۲۰۰۸ — ۲۰۲۳</a:t>
            </a:r>
          </a:p>
        </p:txBody>
      </p:sp>
      <p:sp>
        <p:nvSpPr>
          <p:cNvPr id="14" name="Oval 13"/>
          <p:cNvSpPr/>
          <p:nvPr/>
        </p:nvSpPr>
        <p:spPr>
          <a:xfrm>
            <a:off x="3907231" y="2967228"/>
            <a:ext cx="155448" cy="155448"/>
          </a:xfrm>
          <a:prstGeom prst="ellipse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52551" y="3310128"/>
            <a:ext cx="3310128" cy="4114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0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بازگشت عضله‌کار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52551" y="3785615"/>
            <a:ext cx="3310128" cy="13716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5000"/>
              </a:lnSpc>
            </a:pPr>
            <a:r>
              <a:rPr sz="15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پلتفرم LX/LC؛ از ۳۰۳ تا ۱٬۰۲۵ اسب بخار؛ ۴۴٬۹۶۱ دستگاه در آخرین سال.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5532120"/>
            <a:ext cx="10637215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30000"/>
              </a:lnSpc>
            </a:pPr>
            <a:r>
              <a:rPr sz="160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هر سه نسل با یک ایده ساخته شدند: بدنهٔ بزرگ، موتور جلو و دیفرانسیل عقب.</a:t>
            </a:r>
          </a:p>
        </p:txBody>
      </p:sp>
      <p:sp>
        <p:nvSpPr>
          <p:cNvPr id="18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۲</a:t>
            </a:r>
          </a:p>
        </p:txBody>
      </p:sp>
    </p:spTree>
  </p:cSld>
  <p:clrMapOvr>
    <a:masterClrMapping/>
  </p:clrMapOvr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heritage-1970.jpg"/>
          <p:cNvPicPr>
            <a:picLocks noChangeAspect="1"/>
          </p:cNvPicPr>
          <p:nvPr/>
        </p:nvPicPr>
        <p:blipFill>
          <a:blip r:embed="rId2"/>
          <a:srcRect l="19750" r="19750"/>
          <a:stretch>
            <a:fillRect/>
          </a:stretch>
        </p:blipFill>
        <p:spPr>
          <a:xfrm>
            <a:off x="0" y="0"/>
            <a:ext cx="553212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7">
                  <a:alpha val="4000"/>
                </a:srgbClr>
              </a:gs>
              <a:gs pos="100000">
                <a:srgbClr val="050607">
                  <a:alpha val="40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میراث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989320" y="868680"/>
            <a:ext cx="5425135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8000"/>
              </a:lnSpc>
            </a:pPr>
            <a:r>
              <a:rPr sz="3200" b="0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E-body سال ۱۹۷۰ خطی ساخت که نیم‌قرن بعد هم تکرار می‌شود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5989320" y="2880360"/>
            <a:ext cx="542513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۴۲۶ HEMI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5989320" y="3218688"/>
            <a:ext cx="5425135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5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بزرگ‌ترین موتور کرایسلر با ۴۲۵ اسب بخار اعلام‌شده؛ کم‌تیراژترین و گران‌ترین گزینه.</a:t>
            </a:r>
          </a:p>
        </p:txBody>
      </p:sp>
      <p:sp>
        <p:nvSpPr>
          <p:cNvPr id="8" name="rule"/>
          <p:cNvSpPr/>
          <p:nvPr/>
        </p:nvSpPr>
        <p:spPr>
          <a:xfrm>
            <a:off x="5989320" y="3849624"/>
            <a:ext cx="542513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989320" y="3977639"/>
            <a:ext cx="542513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۳۴۰ Six Pack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989320" y="4315968"/>
            <a:ext cx="5425135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5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نسخهٔ T/A با سه کاربراتور، برای هومولوگیشن مسابقات ترنس‌ام ساخته شد.</a:t>
            </a:r>
          </a:p>
        </p:txBody>
      </p:sp>
      <p:sp>
        <p:nvSpPr>
          <p:cNvPr id="11" name="rule"/>
          <p:cNvSpPr/>
          <p:nvPr/>
        </p:nvSpPr>
        <p:spPr>
          <a:xfrm>
            <a:off x="5989320" y="4946904"/>
            <a:ext cx="542513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5989320" y="5074920"/>
            <a:ext cx="542513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ونیشینگ پوینت ۱۹۷۱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989320" y="5413248"/>
            <a:ext cx="5425135" cy="56692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5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یک چلنجر R/T سفید در مشهورترین تعقیب سینمای جاده‌ای، نماد نسل شد.</a:t>
            </a:r>
          </a:p>
        </p:txBody>
      </p:sp>
      <p:sp>
        <p:nvSpPr>
          <p:cNvPr id="14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5989320" y="6483096"/>
            <a:ext cx="463600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تصویر: آرشیو عمومی (Curbside Classic) · ارقام: Dodge، ویکی‌پدیا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۳</a:t>
            </a:r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طراحی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152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چهار نشانهٔ بصری، چلنجر را از هر کوپهٔ دیگر جدا می‌کند</a:t>
            </a:r>
          </a:p>
        </p:txBody>
      </p:sp>
      <p:sp>
        <p:nvSpPr>
          <p:cNvPr id="4" name="Rectangle 3"/>
          <p:cNvSpPr/>
          <p:nvPr/>
        </p:nvSpPr>
        <p:spPr>
          <a:xfrm>
            <a:off x="6275527" y="2212848"/>
            <a:ext cx="5138928" cy="1700784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Rectangle 4"/>
          <p:cNvSpPr/>
          <p:nvPr/>
        </p:nvSpPr>
        <p:spPr>
          <a:xfrm>
            <a:off x="11364163" y="2487168"/>
            <a:ext cx="50292" cy="475488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10701223" y="244144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2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۰۱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6549847" y="2670048"/>
            <a:ext cx="381304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جلوپنجرهٔ تمام‌عرض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6549847" y="3127248"/>
            <a:ext cx="449884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چهار چراغ گرد در یک قاب افقی که عرض کامل دماغه را می‌گیرد.</a:t>
            </a:r>
          </a:p>
        </p:txBody>
      </p:sp>
      <p:sp>
        <p:nvSpPr>
          <p:cNvPr id="9" name="Rectangle 8"/>
          <p:cNvSpPr/>
          <p:nvPr/>
        </p:nvSpPr>
        <p:spPr>
          <a:xfrm>
            <a:off x="777240" y="2212848"/>
            <a:ext cx="5138928" cy="1700784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Rectangle 9"/>
          <p:cNvSpPr/>
          <p:nvPr/>
        </p:nvSpPr>
        <p:spPr>
          <a:xfrm>
            <a:off x="5865876" y="2487168"/>
            <a:ext cx="50292" cy="475488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1" name="TextBox 10"/>
          <p:cNvSpPr txBox="1"/>
          <p:nvPr/>
        </p:nvSpPr>
        <p:spPr>
          <a:xfrm>
            <a:off x="5202936" y="2441448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2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۰۲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1051560" y="2670048"/>
            <a:ext cx="381304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شانهٔ عقب سنگین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1051560" y="3127248"/>
            <a:ext cx="449884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خط سقف کم‌شیب و گلگیر عقب حجیم؛ میراث مستقیم بدنهٔ E-body.</a:t>
            </a:r>
          </a:p>
        </p:txBody>
      </p:sp>
      <p:sp>
        <p:nvSpPr>
          <p:cNvPr id="14" name="Rectangle 13"/>
          <p:cNvSpPr/>
          <p:nvPr/>
        </p:nvSpPr>
        <p:spPr>
          <a:xfrm>
            <a:off x="6275527" y="4151376"/>
            <a:ext cx="5138928" cy="1700784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Rectangle 14"/>
          <p:cNvSpPr/>
          <p:nvPr/>
        </p:nvSpPr>
        <p:spPr>
          <a:xfrm>
            <a:off x="11364163" y="4425696"/>
            <a:ext cx="50292" cy="475488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701223" y="43799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2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۰۳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6549847" y="4608576"/>
            <a:ext cx="381304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بدنهٔ Widebody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6549847" y="5065776"/>
            <a:ext cx="449884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از ۲۰۱۸ گلگیرهای پهن‌تر با رینگ ۲۰ اینچی و لاستیک ۳۰۵.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4151376"/>
            <a:ext cx="5138928" cy="1700784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Rectangle 19"/>
          <p:cNvSpPr/>
          <p:nvPr/>
        </p:nvSpPr>
        <p:spPr>
          <a:xfrm>
            <a:off x="5865876" y="4425696"/>
            <a:ext cx="50292" cy="475488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5202936" y="4379976"/>
            <a:ext cx="45720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2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۰۴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51560" y="4608576"/>
            <a:ext cx="3813048" cy="3657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5000"/>
              </a:lnSpc>
            </a:pPr>
            <a:r>
              <a:rPr sz="20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نشان و صدا</a:t>
            </a:r>
          </a:p>
        </p:txBody>
      </p:sp>
      <p:sp>
        <p:nvSpPr>
          <p:cNvPr id="23" name="TextBox 22"/>
          <p:cNvSpPr txBox="1"/>
          <p:nvPr/>
        </p:nvSpPr>
        <p:spPr>
          <a:xfrm>
            <a:off x="1051560" y="5065776"/>
            <a:ext cx="4498848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لوگوی Hellcat و نالهٔ سوپرشارژر، امضای نسخه‌های SRT شد.</a:t>
            </a:r>
          </a:p>
        </p:txBody>
      </p:sp>
      <p:sp>
        <p:nvSpPr>
          <p:cNvPr id="24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5" name="TextBox 24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۴</a:t>
            </a:r>
          </a:p>
        </p:txBody>
      </p:sp>
    </p:spTree>
  </p:cSld>
  <p:clrMapOvr>
    <a:masterClrMapping/>
  </p:clrMapOvr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نردبان قدرت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152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یک بدنه، هفت مرحلهٔ قدرت: از ۳۰۳ تا ۱٬۰۲۵ اسب بخار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699248" y="2048256"/>
            <a:ext cx="3712463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تیپ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937760" y="2048256"/>
            <a:ext cx="26517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پیشرانه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3401568" y="2048256"/>
            <a:ext cx="140817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قدرت (hp)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048256"/>
            <a:ext cx="2505456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یادداشت</a:t>
            </a:r>
          </a:p>
        </p:txBody>
      </p:sp>
      <p:sp>
        <p:nvSpPr>
          <p:cNvPr id="8" name="rule"/>
          <p:cNvSpPr/>
          <p:nvPr/>
        </p:nvSpPr>
        <p:spPr>
          <a:xfrm>
            <a:off x="777240" y="2395728"/>
            <a:ext cx="10637215" cy="14630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699248" y="259689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SXT / GT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937760" y="262432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۳.۶ لیتری V6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3401568" y="252374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۳۰۳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63347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تنها نسخه با گزینهٔ AWD</a:t>
            </a:r>
          </a:p>
        </p:txBody>
      </p:sp>
      <p:sp>
        <p:nvSpPr>
          <p:cNvPr id="13" name="rule"/>
          <p:cNvSpPr/>
          <p:nvPr/>
        </p:nvSpPr>
        <p:spPr>
          <a:xfrm>
            <a:off x="777240" y="299466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7699248" y="312267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R/T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937760" y="315010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۵.۷ لیتری HEMI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3401568" y="304952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۳۷۵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15925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دستی ۶ سرعته یا خودکار</a:t>
            </a:r>
          </a:p>
        </p:txBody>
      </p:sp>
      <p:sp>
        <p:nvSpPr>
          <p:cNvPr id="18" name="rule"/>
          <p:cNvSpPr/>
          <p:nvPr/>
        </p:nvSpPr>
        <p:spPr>
          <a:xfrm>
            <a:off x="777240" y="352044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699248" y="364845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R/T Scat Pack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937760" y="367588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۶.۴ لیتری ۳۹۲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3401568" y="357530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۴۸۵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368503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محبوب‌ترین نسخهٔ V8</a:t>
            </a:r>
          </a:p>
        </p:txBody>
      </p:sp>
      <p:sp>
        <p:nvSpPr>
          <p:cNvPr id="23" name="rule"/>
          <p:cNvSpPr/>
          <p:nvPr/>
        </p:nvSpPr>
        <p:spPr>
          <a:xfrm>
            <a:off x="777240" y="404622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699248" y="417423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SRT Hellcat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4937760" y="420166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۶.۲ سوپرشارژ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3401568" y="410108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۷۱۷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777240" y="421081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آغاز عصر Hellcat</a:t>
            </a:r>
          </a:p>
        </p:txBody>
      </p:sp>
      <p:sp>
        <p:nvSpPr>
          <p:cNvPr id="28" name="rule"/>
          <p:cNvSpPr/>
          <p:nvPr/>
        </p:nvSpPr>
        <p:spPr>
          <a:xfrm>
            <a:off x="777240" y="457200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9" name="TextBox 28"/>
          <p:cNvSpPr txBox="1"/>
          <p:nvPr/>
        </p:nvSpPr>
        <p:spPr>
          <a:xfrm>
            <a:off x="7699248" y="470001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Hellcat Redeye</a:t>
            </a:r>
          </a:p>
        </p:txBody>
      </p:sp>
      <p:sp>
        <p:nvSpPr>
          <p:cNvPr id="30" name="TextBox 29"/>
          <p:cNvSpPr txBox="1"/>
          <p:nvPr/>
        </p:nvSpPr>
        <p:spPr>
          <a:xfrm>
            <a:off x="4937760" y="472744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۶.۲ سوپرشارژ</a:t>
            </a:r>
          </a:p>
        </p:txBody>
      </p:sp>
      <p:sp>
        <p:nvSpPr>
          <p:cNvPr id="31" name="TextBox 30"/>
          <p:cNvSpPr txBox="1"/>
          <p:nvPr/>
        </p:nvSpPr>
        <p:spPr>
          <a:xfrm>
            <a:off x="3401568" y="462686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۷۹۷</a:t>
            </a:r>
          </a:p>
        </p:txBody>
      </p:sp>
      <p:sp>
        <p:nvSpPr>
          <p:cNvPr id="32" name="TextBox 31"/>
          <p:cNvSpPr txBox="1"/>
          <p:nvPr/>
        </p:nvSpPr>
        <p:spPr>
          <a:xfrm>
            <a:off x="777240" y="473659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سوپرشارژر بزرگ‌تر</a:t>
            </a:r>
          </a:p>
        </p:txBody>
      </p:sp>
      <p:sp>
        <p:nvSpPr>
          <p:cNvPr id="33" name="rule"/>
          <p:cNvSpPr/>
          <p:nvPr/>
        </p:nvSpPr>
        <p:spPr>
          <a:xfrm>
            <a:off x="777240" y="509778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4" name="TextBox 33"/>
          <p:cNvSpPr txBox="1"/>
          <p:nvPr/>
        </p:nvSpPr>
        <p:spPr>
          <a:xfrm>
            <a:off x="7699248" y="522579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Super Stock</a:t>
            </a:r>
          </a:p>
        </p:txBody>
      </p:sp>
      <p:sp>
        <p:nvSpPr>
          <p:cNvPr id="35" name="TextBox 34"/>
          <p:cNvSpPr txBox="1"/>
          <p:nvPr/>
        </p:nvSpPr>
        <p:spPr>
          <a:xfrm>
            <a:off x="4937760" y="525322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۶.۲ سوپرشارژ</a:t>
            </a:r>
          </a:p>
        </p:txBody>
      </p:sp>
      <p:sp>
        <p:nvSpPr>
          <p:cNvPr id="36" name="TextBox 35"/>
          <p:cNvSpPr txBox="1"/>
          <p:nvPr/>
        </p:nvSpPr>
        <p:spPr>
          <a:xfrm>
            <a:off x="3401568" y="515264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۸۰۷</a:t>
            </a:r>
          </a:p>
        </p:txBody>
      </p:sp>
      <p:sp>
        <p:nvSpPr>
          <p:cNvPr id="37" name="TextBox 36"/>
          <p:cNvSpPr txBox="1"/>
          <p:nvPr/>
        </p:nvSpPr>
        <p:spPr>
          <a:xfrm>
            <a:off x="777240" y="526237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درگ‌محور اما مجاز برای جاده</a:t>
            </a:r>
          </a:p>
        </p:txBody>
      </p:sp>
      <p:sp>
        <p:nvSpPr>
          <p:cNvPr id="38" name="rule"/>
          <p:cNvSpPr/>
          <p:nvPr/>
        </p:nvSpPr>
        <p:spPr>
          <a:xfrm>
            <a:off x="777240" y="562356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39" name="TextBox 38"/>
          <p:cNvSpPr txBox="1"/>
          <p:nvPr/>
        </p:nvSpPr>
        <p:spPr>
          <a:xfrm>
            <a:off x="7699248" y="5751576"/>
            <a:ext cx="3712463" cy="3291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Demon 170</a:t>
            </a:r>
          </a:p>
        </p:txBody>
      </p:sp>
      <p:sp>
        <p:nvSpPr>
          <p:cNvPr id="40" name="TextBox 39"/>
          <p:cNvSpPr txBox="1"/>
          <p:nvPr/>
        </p:nvSpPr>
        <p:spPr>
          <a:xfrm>
            <a:off x="4937760" y="5779008"/>
            <a:ext cx="2651760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4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۶.۲ + E85</a:t>
            </a:r>
          </a:p>
        </p:txBody>
      </p:sp>
      <p:sp>
        <p:nvSpPr>
          <p:cNvPr id="41" name="TextBox 40"/>
          <p:cNvSpPr txBox="1"/>
          <p:nvPr/>
        </p:nvSpPr>
        <p:spPr>
          <a:xfrm>
            <a:off x="3401568" y="5678424"/>
            <a:ext cx="1408176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0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۱٬۰۲۵</a:t>
            </a:r>
          </a:p>
        </p:txBody>
      </p:sp>
      <p:sp>
        <p:nvSpPr>
          <p:cNvPr id="42" name="TextBox 41"/>
          <p:cNvSpPr txBox="1"/>
          <p:nvPr/>
        </p:nvSpPr>
        <p:spPr>
          <a:xfrm>
            <a:off x="777240" y="5788152"/>
            <a:ext cx="2505456" cy="2926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فقط ۳٬۳۰۰ دستگاه، ۲۰۲۳</a:t>
            </a:r>
          </a:p>
        </p:txBody>
      </p:sp>
      <p:sp>
        <p:nvSpPr>
          <p:cNvPr id="43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44" name="TextBox 43"/>
          <p:cNvSpPr txBox="1"/>
          <p:nvPr/>
        </p:nvSpPr>
        <p:spPr>
          <a:xfrm>
            <a:off x="777240" y="6483096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ارقام: مشخصات رسمی دوج برای مدل ۲۰۲۳</a:t>
            </a:r>
          </a:p>
        </p:txBody>
      </p:sp>
      <p:sp>
        <p:nvSpPr>
          <p:cNvPr id="45" name="TextBox 44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۵</a:t>
            </a:r>
          </a:p>
        </p:txBody>
      </p:sp>
    </p:spTree>
  </p:cSld>
  <p:clrMapOvr>
    <a:masterClrMapping/>
  </p:clrMapOvr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mon-burnout.jpg"/>
          <p:cNvPicPr>
            <a:picLocks noChangeAspect="1"/>
          </p:cNvPicPr>
          <p:nvPr/>
        </p:nvPicPr>
        <p:blipFill>
          <a:blip r:embed="rId2"/>
          <a:srcRect l="29582" r="29582"/>
          <a:stretch>
            <a:fillRect/>
          </a:stretch>
        </p:blipFill>
        <p:spPr>
          <a:xfrm>
            <a:off x="0" y="0"/>
            <a:ext cx="525780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7">
                  <a:alpha val="4000"/>
                </a:srgbClr>
              </a:gs>
              <a:gs pos="100000">
                <a:srgbClr val="050607">
                  <a:alpha val="40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دمون ۱۷۰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5669280" y="841248"/>
            <a:ext cx="5745175" cy="12801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200" b="0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دمون ۱۷۰ سریع‌ترین ماشینی است که دوج ساخته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8671255" y="2286000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41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۱٬۰۲۵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8671255" y="29809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اسب بخار با E85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5669280" y="2286000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41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۹۴۵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5669280" y="2980944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پوند-فوت گشتاور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8671255" y="3584448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41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۱.۶۶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8671255" y="4279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ثانیه تا ۶۰ مایل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5669280" y="3584448"/>
            <a:ext cx="2743200" cy="65836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41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۸.۹۱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5669280" y="4279392"/>
            <a:ext cx="27432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ثانیه یک‌چهارم مایل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5669280" y="4983480"/>
            <a:ext cx="5745175" cy="11430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۸.۹۱ ثانیه با سرعت ۱۵۱.۱۷ مایل بر ساعت و تأیید NHRA ثبت شد. قیمت پایه ۹۶٬۶۶۶ دلار و تیراژ ۳٬۳۰۰ دستگاه (۳٬۰۰۰ آمریکا + ۳۰۰ کانادا).</a:t>
            </a:r>
          </a:p>
        </p:txBody>
      </p:sp>
      <p:sp>
        <p:nvSpPr>
          <p:cNvPr id="15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۶</a:t>
            </a:r>
          </a:p>
        </p:txBody>
      </p:sp>
    </p:spTree>
  </p:cSld>
  <p:clrMapOvr>
    <a:masterClrMapping/>
  </p:clrMapOvr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سوخت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760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قدرت دمون ۱۷۰ را اکتان تعیین می‌کند، نه موتور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223760" y="2103120"/>
            <a:ext cx="4187952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2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قدرت اعلام‌شده، اسب بخار</a:t>
            </a:r>
          </a:p>
        </p:txBody>
      </p:sp>
      <p:sp>
        <p:nvSpPr>
          <p:cNvPr id="5" name="Rectangle 4"/>
          <p:cNvSpPr/>
          <p:nvPr/>
        </p:nvSpPr>
        <p:spPr>
          <a:xfrm>
            <a:off x="9677095" y="3137061"/>
            <a:ext cx="1737360" cy="2001866"/>
          </a:xfrm>
          <a:prstGeom prst="rect">
            <a:avLst/>
          </a:prstGeom>
          <a:solidFill>
            <a:srgbClr val="454C56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9677095" y="2679861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2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۸۸۰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9448495" y="526694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بنزین ۹۱ اکتان</a:t>
            </a:r>
          </a:p>
        </p:txBody>
      </p:sp>
      <p:sp>
        <p:nvSpPr>
          <p:cNvPr id="8" name="Rectangle 7"/>
          <p:cNvSpPr/>
          <p:nvPr/>
        </p:nvSpPr>
        <p:spPr>
          <a:xfrm>
            <a:off x="7281367" y="3091564"/>
            <a:ext cx="1737360" cy="2047363"/>
          </a:xfrm>
          <a:prstGeom prst="rect">
            <a:avLst/>
          </a:prstGeom>
          <a:solidFill>
            <a:srgbClr val="69737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7281367" y="2634364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2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۹۰۰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052767" y="526694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E10</a:t>
            </a:r>
          </a:p>
        </p:txBody>
      </p:sp>
      <p:sp>
        <p:nvSpPr>
          <p:cNvPr id="11" name="Rectangle 10"/>
          <p:cNvSpPr/>
          <p:nvPr/>
        </p:nvSpPr>
        <p:spPr>
          <a:xfrm>
            <a:off x="4885639" y="2807208"/>
            <a:ext cx="1737360" cy="2331720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4885639" y="2350008"/>
            <a:ext cx="1737360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2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۱٬۰۲۵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657039" y="5266944"/>
            <a:ext cx="21945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E85</a:t>
            </a:r>
          </a:p>
        </p:txBody>
      </p:sp>
      <p:sp>
        <p:nvSpPr>
          <p:cNvPr id="14" name="rule"/>
          <p:cNvSpPr/>
          <p:nvPr/>
        </p:nvSpPr>
        <p:spPr>
          <a:xfrm>
            <a:off x="4885639" y="5138928"/>
            <a:ext cx="6528815" cy="14630"/>
          </a:xfrm>
          <a:prstGeom prst="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777240" y="2139696"/>
            <a:ext cx="356616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چرا عدد ثابت نیست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777240" y="2542032"/>
            <a:ext cx="3566160" cy="17373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5000"/>
              </a:lnSpc>
            </a:pPr>
            <a:r>
              <a:rPr sz="14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حسگر درصد اتانول، نقشهٔ موتور را تغییر می‌دهد: با بنزین ۹۱ اکتان ۸۸۰ اسب، با E10 نود اسب بیشتر و با E85 به ۱٬۰۲۵ اسب می‌رسد.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343400"/>
            <a:ext cx="356616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30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گشتاور هم پابه‌پای سوخت بالا می‌رود: ۸۱۰ پوند-فوت با E10 و ۹۴۵ با E85.</a:t>
            </a:r>
          </a:p>
        </p:txBody>
      </p:sp>
      <p:sp>
        <p:nvSpPr>
          <p:cNvPr id="18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777240" y="6483096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منبع: بیانیهٔ مطبوعاتی Dodge، مارس ۲۰۲۳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۷</a:t>
            </a:r>
          </a:p>
        </p:txBody>
      </p:sp>
    </p:spTree>
  </p:cSld>
  <p:clrMapOvr>
    <a:masterClrMapping/>
  </p:clrMapOvr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واقعیت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152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۱.۶۶ ثانیه در خیابان تکرار نمی‌شود؛ عدد آزمایشگاهی است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844784" y="2176272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434840" y="2157984"/>
            <a:ext cx="624535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سطح آماده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434840" y="2523744"/>
            <a:ext cx="6245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آسفالت چسبندهٔ پیست درگ، نه آسفالت شهری یا لاستیک سرد.</a:t>
            </a:r>
          </a:p>
        </p:txBody>
      </p:sp>
      <p:sp>
        <p:nvSpPr>
          <p:cNvPr id="7" name="rule"/>
          <p:cNvSpPr/>
          <p:nvPr/>
        </p:nvSpPr>
        <p:spPr>
          <a:xfrm>
            <a:off x="4434840" y="3035808"/>
            <a:ext cx="6976872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844784" y="3209544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4434840" y="3191256"/>
            <a:ext cx="624535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لاستیک ویژه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434840" y="3557015"/>
            <a:ext cx="6245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درگ رادیال Mickey Thompson که اختصاصی این مدل ساخته شد.</a:t>
            </a:r>
          </a:p>
        </p:txBody>
      </p:sp>
      <p:sp>
        <p:nvSpPr>
          <p:cNvPr id="11" name="rule"/>
          <p:cNvSpPr/>
          <p:nvPr/>
        </p:nvSpPr>
        <p:spPr>
          <a:xfrm>
            <a:off x="4434840" y="4069079"/>
            <a:ext cx="6976872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844784" y="4242815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4434840" y="4224527"/>
            <a:ext cx="624535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گیربکس و ترمز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434840" y="4590288"/>
            <a:ext cx="6245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۸ سرعتهٔ TorqueFlite با TransBrake 2.0 و لانچ کنترل.</a:t>
            </a:r>
          </a:p>
        </p:txBody>
      </p:sp>
      <p:sp>
        <p:nvSpPr>
          <p:cNvPr id="15" name="rule"/>
          <p:cNvSpPr/>
          <p:nvPr/>
        </p:nvSpPr>
        <p:spPr>
          <a:xfrm>
            <a:off x="4434840" y="5102351"/>
            <a:ext cx="6976872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844784" y="5276087"/>
            <a:ext cx="56692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434840" y="5257799"/>
            <a:ext cx="6245352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مجوز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434840" y="5623559"/>
            <a:ext cx="6245352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NHRA اجرای زیر ۹ ثانیه را بدون رول‌کیج و چتر ممنوع اعلام کرد.</a:t>
            </a:r>
          </a:p>
        </p:txBody>
      </p:sp>
      <p:sp>
        <p:nvSpPr>
          <p:cNvPr id="19" name="Rectangle 18"/>
          <p:cNvSpPr/>
          <p:nvPr/>
        </p:nvSpPr>
        <p:spPr>
          <a:xfrm>
            <a:off x="777240" y="2157984"/>
            <a:ext cx="3246120" cy="2395728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05840" y="2359152"/>
            <a:ext cx="2788920" cy="74980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43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۲.۰۰۴g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1005840" y="3127248"/>
            <a:ext cx="2788920" cy="82296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0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بیشترین شتاب G ثبت‌شده برای یک خودروی تولیدی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1005840" y="4005072"/>
            <a:ext cx="2788920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30000"/>
              </a:lnSpc>
            </a:pPr>
            <a:r>
              <a:rPr sz="130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۶۰ فوت در ۱.۲۴ ثانیه</a:t>
            </a:r>
          </a:p>
        </p:txBody>
      </p:sp>
      <p:sp>
        <p:nvSpPr>
          <p:cNvPr id="23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5669280" y="6483096"/>
            <a:ext cx="495604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تصویر: آرشیو عمومی (HotCars) · منبع: Dodge، مارس ۲۰۲۳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۸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رقیب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760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قدرت را دوج می‌برد، وزن و چابکی را رقیب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6903720" y="2103120"/>
            <a:ext cx="4507992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خودرو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4892040" y="2103120"/>
            <a:ext cx="1874519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قدرت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2971800" y="2103120"/>
            <a:ext cx="178308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وزن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777240" y="2103120"/>
            <a:ext cx="20574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500" b="1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جایگاه</a:t>
            </a:r>
          </a:p>
        </p:txBody>
      </p:sp>
      <p:sp>
        <p:nvSpPr>
          <p:cNvPr id="8" name="rule"/>
          <p:cNvSpPr/>
          <p:nvPr/>
        </p:nvSpPr>
        <p:spPr>
          <a:xfrm>
            <a:off x="777240" y="2450592"/>
            <a:ext cx="10637215" cy="14630"/>
          </a:xfrm>
          <a:prstGeom prst="rect">
            <a:avLst/>
          </a:prstGeom>
          <a:solidFill>
            <a:srgbClr val="7A828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6903720" y="2688336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دوج چلنجر Demon 170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4892040" y="2670048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2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۱٬۰۲۵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2971800" y="2706624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۴٬۲۵۵ پوند</a:t>
            </a:r>
          </a:p>
        </p:txBody>
      </p:sp>
      <p:sp>
        <p:nvSpPr>
          <p:cNvPr id="12" name="TextBox 11"/>
          <p:cNvSpPr txBox="1"/>
          <p:nvPr/>
        </p:nvSpPr>
        <p:spPr>
          <a:xfrm>
            <a:off x="777240" y="2724912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قدرت خط مستقیم</a:t>
            </a:r>
          </a:p>
        </p:txBody>
      </p:sp>
      <p:sp>
        <p:nvSpPr>
          <p:cNvPr id="13" name="rule"/>
          <p:cNvSpPr/>
          <p:nvPr/>
        </p:nvSpPr>
        <p:spPr>
          <a:xfrm>
            <a:off x="777240" y="3310127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4" name="TextBox 13"/>
          <p:cNvSpPr txBox="1"/>
          <p:nvPr/>
        </p:nvSpPr>
        <p:spPr>
          <a:xfrm>
            <a:off x="6903720" y="3474720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فورد موستانگ Shelby GT500</a:t>
            </a:r>
          </a:p>
        </p:txBody>
      </p:sp>
      <p:sp>
        <p:nvSpPr>
          <p:cNvPr id="15" name="TextBox 14"/>
          <p:cNvSpPr txBox="1"/>
          <p:nvPr/>
        </p:nvSpPr>
        <p:spPr>
          <a:xfrm>
            <a:off x="4892040" y="3456432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2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۷۶۰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2971800" y="3493008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۴٬۱۸۲ پوند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3511296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بهترین تعادل</a:t>
            </a:r>
          </a:p>
        </p:txBody>
      </p:sp>
      <p:sp>
        <p:nvSpPr>
          <p:cNvPr id="18" name="rule"/>
          <p:cNvSpPr/>
          <p:nvPr/>
        </p:nvSpPr>
        <p:spPr>
          <a:xfrm>
            <a:off x="777240" y="4096512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6903720" y="4261104"/>
            <a:ext cx="4507992" cy="384048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شورولت کامارو ZL1 1LE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4892040" y="4242816"/>
            <a:ext cx="1874519" cy="40233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22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۶۵۰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2971800" y="4279392"/>
            <a:ext cx="178308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6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۳٬۸۸۳ پوند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4297680"/>
            <a:ext cx="2057400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سبک‌ترین</a:t>
            </a:r>
          </a:p>
        </p:txBody>
      </p:sp>
      <p:sp>
        <p:nvSpPr>
          <p:cNvPr id="23" name="Rectangle 22"/>
          <p:cNvSpPr/>
          <p:nvPr/>
        </p:nvSpPr>
        <p:spPr>
          <a:xfrm>
            <a:off x="777240" y="5138928"/>
            <a:ext cx="10637215" cy="896112"/>
          </a:xfrm>
          <a:prstGeom prst="rect">
            <a:avLst/>
          </a:prstGeom>
          <a:solidFill>
            <a:srgbClr val="15181D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1143000" y="5138928"/>
            <a:ext cx="9905695" cy="896112"/>
          </a:xfrm>
          <a:prstGeom prst="rect">
            <a:avLst/>
          </a:prstGeom>
          <a:noFill/>
        </p:spPr>
        <p:txBody>
          <a:bodyPr wrap="square" lIns="0" rIns="0" tIns="0" bIns="0" anchor="ctr"/>
          <a:lstStyle/>
          <a:p>
            <a:pPr rtl="1" algn="r">
              <a:lnSpc>
                <a:spcPct val="145000"/>
              </a:lnSpc>
            </a:pPr>
            <a:r>
              <a:rPr sz="15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چلنجر در وزن، تعادل پیست و دید راننده می‌بازد؛ در قدرت، فضای کابین و صدای موتور می‌برد.</a:t>
            </a:r>
          </a:p>
        </p:txBody>
      </p:sp>
      <p:sp>
        <p:nvSpPr>
          <p:cNvPr id="25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6" name="TextBox 25"/>
          <p:cNvSpPr txBox="1"/>
          <p:nvPr/>
        </p:nvSpPr>
        <p:spPr>
          <a:xfrm>
            <a:off x="777240" y="6483096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ارقام: مشخصات رسمی سازندگان؛ وزن‌ها به پوند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۹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فروش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11521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چلنجر در ۲۰۲۱ و ۲۰۲۲ پرفروش‌ترین عضله‌کار آمریکا بود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777240" y="2139696"/>
            <a:ext cx="585216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2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فروش سالانه در آمریکا، دستگاه</a:t>
            </a:r>
          </a:p>
        </p:txBody>
      </p:sp>
      <p:sp>
        <p:nvSpPr>
          <p:cNvPr id="5" name="Rectangle 4"/>
          <p:cNvSpPr/>
          <p:nvPr/>
        </p:nvSpPr>
        <p:spPr>
          <a:xfrm>
            <a:off x="3934663" y="2816352"/>
            <a:ext cx="1115568" cy="2212848"/>
          </a:xfrm>
          <a:prstGeom prst="rect">
            <a:avLst/>
          </a:prstGeom>
          <a:solidFill>
            <a:srgbClr val="3E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6" name="TextBox 5"/>
          <p:cNvSpPr txBox="1"/>
          <p:nvPr/>
        </p:nvSpPr>
        <p:spPr>
          <a:xfrm>
            <a:off x="3797503" y="2414016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۶۰٬۹۹۷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3797503" y="51389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۲۰۱۹</a:t>
            </a:r>
          </a:p>
        </p:txBody>
      </p:sp>
      <p:sp>
        <p:nvSpPr>
          <p:cNvPr id="8" name="Rectangle 7"/>
          <p:cNvSpPr/>
          <p:nvPr/>
        </p:nvSpPr>
        <p:spPr>
          <a:xfrm>
            <a:off x="5525719" y="3108099"/>
            <a:ext cx="1115568" cy="1921100"/>
          </a:xfrm>
          <a:prstGeom prst="rect">
            <a:avLst/>
          </a:prstGeom>
          <a:solidFill>
            <a:srgbClr val="3E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9" name="TextBox 8"/>
          <p:cNvSpPr txBox="1"/>
          <p:nvPr/>
        </p:nvSpPr>
        <p:spPr>
          <a:xfrm>
            <a:off x="5388559" y="2705763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۵۲٬۹۵۵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5388559" y="51389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۲۰۲۰</a:t>
            </a:r>
          </a:p>
        </p:txBody>
      </p:sp>
      <p:sp>
        <p:nvSpPr>
          <p:cNvPr id="11" name="Rectangle 10"/>
          <p:cNvSpPr/>
          <p:nvPr/>
        </p:nvSpPr>
        <p:spPr>
          <a:xfrm>
            <a:off x="7116775" y="3058761"/>
            <a:ext cx="1115568" cy="1970438"/>
          </a:xfrm>
          <a:prstGeom prst="rect">
            <a:avLst/>
          </a:prstGeom>
          <a:solidFill>
            <a:srgbClr val="3E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6979615" y="2656425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۵۴٬۳۱۵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6979615" y="51389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۲۰۲۱</a:t>
            </a:r>
          </a:p>
        </p:txBody>
      </p:sp>
      <p:sp>
        <p:nvSpPr>
          <p:cNvPr id="14" name="Rectangle 13"/>
          <p:cNvSpPr/>
          <p:nvPr/>
        </p:nvSpPr>
        <p:spPr>
          <a:xfrm>
            <a:off x="8707831" y="3025022"/>
            <a:ext cx="1115568" cy="2004177"/>
          </a:xfrm>
          <a:prstGeom prst="rect">
            <a:avLst/>
          </a:prstGeom>
          <a:solidFill>
            <a:srgbClr val="3E454F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5" name="TextBox 14"/>
          <p:cNvSpPr txBox="1"/>
          <p:nvPr/>
        </p:nvSpPr>
        <p:spPr>
          <a:xfrm>
            <a:off x="8570671" y="2622686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۵۵٬۲۴۵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8570671" y="51389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۲۰۲۲</a:t>
            </a:r>
          </a:p>
        </p:txBody>
      </p:sp>
      <p:sp>
        <p:nvSpPr>
          <p:cNvPr id="17" name="Rectangle 16"/>
          <p:cNvSpPr/>
          <p:nvPr/>
        </p:nvSpPr>
        <p:spPr>
          <a:xfrm>
            <a:off x="10298887" y="3398105"/>
            <a:ext cx="1115568" cy="1631094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8" name="TextBox 17"/>
          <p:cNvSpPr txBox="1"/>
          <p:nvPr/>
        </p:nvSpPr>
        <p:spPr>
          <a:xfrm>
            <a:off x="10161727" y="2995769"/>
            <a:ext cx="138988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۴۴٬۹۶۱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10161727" y="5138928"/>
            <a:ext cx="1389888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ctr">
              <a:lnSpc>
                <a:spcPct val="100000"/>
              </a:lnSpc>
            </a:pPr>
            <a:r>
              <a:rPr sz="140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۲۰۲۳</a:t>
            </a:r>
          </a:p>
        </p:txBody>
      </p:sp>
      <p:sp>
        <p:nvSpPr>
          <p:cNvPr id="20" name="rule"/>
          <p:cNvSpPr/>
          <p:nvPr/>
        </p:nvSpPr>
        <p:spPr>
          <a:xfrm>
            <a:off x="3934663" y="5029200"/>
            <a:ext cx="7479792" cy="14630"/>
          </a:xfrm>
          <a:prstGeom prst="rect">
            <a:avLst/>
          </a:prstGeom>
          <a:solidFill>
            <a:srgbClr val="5A636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1" name="TextBox 20"/>
          <p:cNvSpPr txBox="1"/>
          <p:nvPr/>
        </p:nvSpPr>
        <p:spPr>
          <a:xfrm>
            <a:off x="777240" y="5440680"/>
            <a:ext cx="6949440" cy="6858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0000"/>
              </a:lnSpc>
            </a:pPr>
            <a:r>
              <a:rPr sz="13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در ۲۰۲۲ موستانگ ۴۷٬۵۶۶ و کامارو ۲۴٬۶۵۲ دستگاه فروختند؛ سال ۲۰۲۳ سال خداحافظی بود و آمارش افت کرد.</a:t>
            </a:r>
          </a:p>
        </p:txBody>
      </p:sp>
      <p:sp>
        <p:nvSpPr>
          <p:cNvPr id="22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3" name="TextBox 22"/>
          <p:cNvSpPr txBox="1"/>
          <p:nvPr/>
        </p:nvSpPr>
        <p:spPr>
          <a:xfrm>
            <a:off x="777240" y="6483096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منبع: GoodCarBadCar، آمار فروش سالانهٔ آمریکا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۱۰</a:t>
            </a:r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demon-170-front.jpg"/>
          <p:cNvPicPr>
            <a:picLocks noChangeAspect="1"/>
          </p:cNvPicPr>
          <p:nvPr/>
        </p:nvPicPr>
        <p:blipFill>
          <a:blip r:embed="rId2"/>
          <a:srcRect l="31440" r="31440"/>
          <a:stretch>
            <a:fillRect/>
          </a:stretch>
        </p:blipFill>
        <p:spPr>
          <a:xfrm>
            <a:off x="0" y="0"/>
            <a:ext cx="4526280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7">
                  <a:alpha val="4000"/>
                </a:srgbClr>
              </a:gs>
              <a:gs pos="100000">
                <a:srgbClr val="050607">
                  <a:alpha val="40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TextBox 3"/>
          <p:cNvSpPr txBox="1"/>
          <p:nvPr/>
        </p:nvSpPr>
        <p:spPr>
          <a:xfrm>
            <a:off x="274320" y="274320"/>
            <a:ext cx="4023360" cy="25603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00000"/>
              </a:lnSpc>
            </a:pPr>
            <a:r>
              <a:rPr sz="950" b="0">
                <a:solidFill>
                  <a:srgbClr val="E4E7EB"/>
                </a:solidFill>
                <a:latin typeface="Vazirmatn"/>
                <a:ea typeface="Vazirmatn"/>
                <a:cs typeface="Vazirmatn"/>
              </a:rPr>
              <a:t>۲۰۲۳ Challenger SRT Demon 170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پایان دوره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4937760" y="868680"/>
            <a:ext cx="6476695" cy="132588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8000"/>
              </a:lnSpc>
            </a:pPr>
            <a:r>
              <a:rPr sz="3100" b="0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دوج دسامبر ۲۰۲۳ خط تولید را بست و برقی شد</a:t>
            </a:r>
          </a:p>
        </p:txBody>
      </p:sp>
      <p:sp>
        <p:nvSpPr>
          <p:cNvPr id="7" name="TextBox 6"/>
          <p:cNvSpPr txBox="1"/>
          <p:nvPr/>
        </p:nvSpPr>
        <p:spPr>
          <a:xfrm>
            <a:off x="4937760" y="2377440"/>
            <a:ext cx="6476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مارس ۲۰۲۳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4937760" y="2724912"/>
            <a:ext cx="647669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سفارش دمون ۱۷۰ باز شد و تیراژ روی ۳٬۳۰۰ دستگاه ثابت ماند.</a:t>
            </a:r>
          </a:p>
        </p:txBody>
      </p:sp>
      <p:sp>
        <p:nvSpPr>
          <p:cNvPr id="9" name="rule"/>
          <p:cNvSpPr/>
          <p:nvPr/>
        </p:nvSpPr>
        <p:spPr>
          <a:xfrm>
            <a:off x="4937760" y="3273552"/>
            <a:ext cx="647669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0" name="TextBox 9"/>
          <p:cNvSpPr txBox="1"/>
          <p:nvPr/>
        </p:nvSpPr>
        <p:spPr>
          <a:xfrm>
            <a:off x="4937760" y="3401568"/>
            <a:ext cx="6476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۲۰۲۳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4937760" y="3749040"/>
            <a:ext cx="647669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هفت نسخهٔ Last Call از Shakedown تا Demon 170 معرفی شد.</a:t>
            </a:r>
          </a:p>
        </p:txBody>
      </p:sp>
      <p:sp>
        <p:nvSpPr>
          <p:cNvPr id="12" name="rule"/>
          <p:cNvSpPr/>
          <p:nvPr/>
        </p:nvSpPr>
        <p:spPr>
          <a:xfrm>
            <a:off x="4937760" y="4297680"/>
            <a:ext cx="647669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3" name="TextBox 12"/>
          <p:cNvSpPr txBox="1"/>
          <p:nvPr/>
        </p:nvSpPr>
        <p:spPr>
          <a:xfrm>
            <a:off x="4937760" y="4425696"/>
            <a:ext cx="6476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دسامبر ۲۰۲۳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4937760" y="4773168"/>
            <a:ext cx="647669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آخرین چلنجر از خط برامپتون در انتاریو بیرون آمد و خط بسته شد.</a:t>
            </a:r>
          </a:p>
        </p:txBody>
      </p:sp>
      <p:sp>
        <p:nvSpPr>
          <p:cNvPr id="15" name="rule"/>
          <p:cNvSpPr/>
          <p:nvPr/>
        </p:nvSpPr>
        <p:spPr>
          <a:xfrm>
            <a:off x="4937760" y="5321808"/>
            <a:ext cx="647669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4937760" y="5449824"/>
            <a:ext cx="647669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70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۲۰۲۴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937760" y="5797296"/>
            <a:ext cx="6476695" cy="5486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جانشین برقی: چارجر دایتونا با ۴۹۶ تا ۶۷۰ اسب بخار.</a:t>
            </a:r>
          </a:p>
        </p:txBody>
      </p:sp>
      <p:sp>
        <p:nvSpPr>
          <p:cNvPr id="18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9" name="TextBox 18"/>
          <p:cNvSpPr txBox="1"/>
          <p:nvPr/>
        </p:nvSpPr>
        <p:spPr>
          <a:xfrm>
            <a:off x="4937760" y="6483096"/>
            <a:ext cx="5687567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تصویر: آرشیو عمومی · منابع: Stellantis، دسامبر ۲۰۲۳</a:t>
            </a:r>
          </a:p>
        </p:txBody>
      </p:sp>
      <p:sp>
        <p:nvSpPr>
          <p:cNvPr id="20" name="TextBox 19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۱۱</a:t>
            </a:r>
          </a:p>
        </p:txBody>
      </p:sp>
    </p:spTree>
  </p:cSld>
  <p:clrMapOvr>
    <a:masterClrMapping/>
  </p:clrMapOvr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sp>
        <p:nvSpPr>
          <p:cNvPr id="2" name="TextBox 1"/>
          <p:cNvSpPr txBox="1"/>
          <p:nvPr/>
        </p:nvSpPr>
        <p:spPr>
          <a:xfrm>
            <a:off x="7756855" y="502920"/>
            <a:ext cx="3657600" cy="2743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راهنمای خرید</a:t>
            </a:r>
          </a:p>
        </p:txBody>
      </p:sp>
      <p:sp>
        <p:nvSpPr>
          <p:cNvPr id="3" name="TextBox 2"/>
          <p:cNvSpPr txBox="1"/>
          <p:nvPr/>
        </p:nvSpPr>
        <p:spPr>
          <a:xfrm>
            <a:off x="777240" y="868680"/>
            <a:ext cx="10637215" cy="576072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6000"/>
              </a:lnSpc>
            </a:pPr>
            <a:r>
              <a:rPr sz="3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چلنجر کارکرده را بدون این پنج بررسی نخر</a:t>
            </a:r>
          </a:p>
        </p:txBody>
      </p:sp>
      <p:sp>
        <p:nvSpPr>
          <p:cNvPr id="4" name="TextBox 3"/>
          <p:cNvSpPr txBox="1"/>
          <p:nvPr/>
        </p:nvSpPr>
        <p:spPr>
          <a:xfrm>
            <a:off x="10756087" y="2231136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۰۱</a:t>
            </a:r>
          </a:p>
        </p:txBody>
      </p:sp>
      <p:sp>
        <p:nvSpPr>
          <p:cNvPr id="5" name="TextBox 4"/>
          <p:cNvSpPr txBox="1"/>
          <p:nvPr/>
        </p:nvSpPr>
        <p:spPr>
          <a:xfrm>
            <a:off x="777240" y="2176272"/>
            <a:ext cx="985997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سوپرشارژر</a:t>
            </a:r>
          </a:p>
        </p:txBody>
      </p:sp>
      <p:sp>
        <p:nvSpPr>
          <p:cNvPr id="6" name="TextBox 5"/>
          <p:cNvSpPr txBox="1"/>
          <p:nvPr/>
        </p:nvSpPr>
        <p:spPr>
          <a:xfrm>
            <a:off x="777240" y="2542032"/>
            <a:ext cx="985997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نشتی روغن، صدای یاتاقان و تاریخ تعویض کولر را با متخصص بررسی کن.</a:t>
            </a:r>
          </a:p>
        </p:txBody>
      </p:sp>
      <p:sp>
        <p:nvSpPr>
          <p:cNvPr id="7" name="rule"/>
          <p:cNvSpPr/>
          <p:nvPr/>
        </p:nvSpPr>
        <p:spPr>
          <a:xfrm>
            <a:off x="777240" y="3090672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8" name="TextBox 7"/>
          <p:cNvSpPr txBox="1"/>
          <p:nvPr/>
        </p:nvSpPr>
        <p:spPr>
          <a:xfrm>
            <a:off x="10756087" y="3072384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۰۲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777240" y="3017520"/>
            <a:ext cx="985997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تاریخچهٔ درگ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777240" y="3383279"/>
            <a:ext cx="985997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رد لاستیک نیمه‌سلیک، نیم‌محور تقویت‌شده و تیون ECU را ببین.</a:t>
            </a:r>
          </a:p>
        </p:txBody>
      </p:sp>
      <p:sp>
        <p:nvSpPr>
          <p:cNvPr id="11" name="rule"/>
          <p:cNvSpPr/>
          <p:nvPr/>
        </p:nvSpPr>
        <p:spPr>
          <a:xfrm>
            <a:off x="777240" y="3931920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2" name="TextBox 11"/>
          <p:cNvSpPr txBox="1"/>
          <p:nvPr/>
        </p:nvSpPr>
        <p:spPr>
          <a:xfrm>
            <a:off x="10756087" y="3913631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۰۳</a:t>
            </a:r>
          </a:p>
        </p:txBody>
      </p:sp>
      <p:sp>
        <p:nvSpPr>
          <p:cNvPr id="13" name="TextBox 12"/>
          <p:cNvSpPr txBox="1"/>
          <p:nvPr/>
        </p:nvSpPr>
        <p:spPr>
          <a:xfrm>
            <a:off x="777240" y="3858768"/>
            <a:ext cx="985997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اصالت تیپ</a:t>
            </a:r>
          </a:p>
        </p:txBody>
      </p:sp>
      <p:sp>
        <p:nvSpPr>
          <p:cNvPr id="14" name="TextBox 13"/>
          <p:cNvSpPr txBox="1"/>
          <p:nvPr/>
        </p:nvSpPr>
        <p:spPr>
          <a:xfrm>
            <a:off x="777240" y="4224528"/>
            <a:ext cx="985997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VIN و کد موتور را با برگهٔ ساخت تطبیق بده؛ Widebody و Jailbreak بازار جدا دارند.</a:t>
            </a:r>
          </a:p>
        </p:txBody>
      </p:sp>
      <p:sp>
        <p:nvSpPr>
          <p:cNvPr id="15" name="rule"/>
          <p:cNvSpPr/>
          <p:nvPr/>
        </p:nvSpPr>
        <p:spPr>
          <a:xfrm>
            <a:off x="777240" y="4773168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16" name="TextBox 15"/>
          <p:cNvSpPr txBox="1"/>
          <p:nvPr/>
        </p:nvSpPr>
        <p:spPr>
          <a:xfrm>
            <a:off x="10756087" y="4754879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۰۴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777240" y="4700016"/>
            <a:ext cx="985997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سرویس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777240" y="5065776"/>
            <a:ext cx="985997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دفترچهٔ سرویس روغن و شمع؛ نسخه‌های ۷۱۷ اسبی به نگهداری دقیق حساس‌اند.</a:t>
            </a:r>
          </a:p>
        </p:txBody>
      </p:sp>
      <p:sp>
        <p:nvSpPr>
          <p:cNvPr id="19" name="rule"/>
          <p:cNvSpPr/>
          <p:nvPr/>
        </p:nvSpPr>
        <p:spPr>
          <a:xfrm>
            <a:off x="777240" y="5614416"/>
            <a:ext cx="10637215" cy="8229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0" name="TextBox 19"/>
          <p:cNvSpPr txBox="1"/>
          <p:nvPr/>
        </p:nvSpPr>
        <p:spPr>
          <a:xfrm>
            <a:off x="10756087" y="5596127"/>
            <a:ext cx="658368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00000"/>
              </a:lnSpc>
            </a:pPr>
            <a:r>
              <a:rPr sz="1350" b="1">
                <a:solidFill>
                  <a:srgbClr val="E11D2E"/>
                </a:solidFill>
                <a:latin typeface="Vazirmatn"/>
                <a:ea typeface="Vazirmatn"/>
                <a:cs typeface="Vazirmatn"/>
              </a:rPr>
              <a:t>۰۵</a:t>
            </a:r>
          </a:p>
        </p:txBody>
      </p:sp>
      <p:sp>
        <p:nvSpPr>
          <p:cNvPr id="21" name="TextBox 20"/>
          <p:cNvSpPr txBox="1"/>
          <p:nvPr/>
        </p:nvSpPr>
        <p:spPr>
          <a:xfrm>
            <a:off x="777240" y="5541264"/>
            <a:ext cx="9859975" cy="310896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85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بدنه</a:t>
            </a:r>
          </a:p>
        </p:txBody>
      </p:sp>
      <p:sp>
        <p:nvSpPr>
          <p:cNvPr id="22" name="TextBox 21"/>
          <p:cNvSpPr txBox="1"/>
          <p:nvPr/>
        </p:nvSpPr>
        <p:spPr>
          <a:xfrm>
            <a:off x="777240" y="5907024"/>
            <a:ext cx="9859975" cy="45720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</a:pPr>
            <a:r>
              <a:rPr sz="1450" b="0">
                <a:solidFill>
                  <a:srgbClr val="9AA2AE"/>
                </a:solidFill>
                <a:latin typeface="Vazirmatn"/>
                <a:ea typeface="Vazirmatn"/>
                <a:cs typeface="Vazirmatn"/>
              </a:rPr>
              <a:t>گلگیر Widebody یک‌تکه است؛ تعویض بی‌دقت درز و رنگ را لو می‌دهد.</a:t>
            </a:r>
          </a:p>
        </p:txBody>
      </p:sp>
      <p:sp>
        <p:nvSpPr>
          <p:cNvPr id="23" name="rule"/>
          <p:cNvSpPr/>
          <p:nvPr/>
        </p:nvSpPr>
        <p:spPr>
          <a:xfrm>
            <a:off x="777240" y="6345936"/>
            <a:ext cx="10637215" cy="9144"/>
          </a:xfrm>
          <a:prstGeom prst="rect">
            <a:avLst/>
          </a:prstGeom>
          <a:solidFill>
            <a:srgbClr val="2A2F37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24" name="TextBox 23"/>
          <p:cNvSpPr txBox="1"/>
          <p:nvPr/>
        </p:nvSpPr>
        <p:spPr>
          <a:xfrm>
            <a:off x="777240" y="6483096"/>
            <a:ext cx="6583680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l">
              <a:lnSpc>
                <a:spcPct val="110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این فهرست عمومی است و جای بازرسی فنی تخصصی را نمی‌گیرد.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10881360" y="6483096"/>
            <a:ext cx="530352" cy="23774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10000"/>
              </a:lnSpc>
            </a:pPr>
            <a:r>
              <a:rPr sz="1100" b="1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۱۲</a:t>
            </a:r>
          </a:p>
        </p:txBody>
      </p:sp>
    </p:spTree>
  </p:cSld>
  <p:clrMapOvr>
    <a:masterClrMapping/>
  </p:clrMapOvr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>
  <p:cSld>
    <p:bg>
      <p:bgPr>
        <a:solidFill>
          <a:srgbClr val="0A0B0D"/>
        </a:solidFill>
        <a:effectLst/>
      </p:bgPr>
    </p:bg>
    <p:spTree>
      <p:nvGrpSpPr>
        <p:cNvPr id="1" name=""/>
        <p:cNvGrpSpPr/>
        <p:nvPr/>
      </p:nvGrpSpPr>
      <p:grpSpPr/>
      <p:pic>
        <p:nvPicPr>
          <p:cNvPr id="2" name="Picture 1" descr="cover-hellcat.jpg"/>
          <p:cNvPicPr>
            <a:picLocks noChangeAspect="1"/>
          </p:cNvPicPr>
          <p:nvPr/>
        </p:nvPicPr>
        <p:blipFill>
          <a:blip r:embed="rId2"/>
          <a:srcRect l="1" r="1"/>
          <a:stretch>
            <a:fillRect/>
          </a:stretch>
        </p:blipFill>
        <p:spPr>
          <a:xfrm>
            <a:off x="0" y="0"/>
            <a:ext cx="12191695" cy="6858000"/>
          </a:xfrm>
          <a:prstGeom prst="rect">
            <a:avLst/>
          </a:prstGeom>
        </p:spPr>
      </p:pic>
      <p:sp>
        <p:nvSpPr>
          <p:cNvPr id="3" name="scrim"/>
          <p:cNvSpPr/>
          <p:nvPr/>
        </p:nvSpPr>
        <p:spPr>
          <a:xfrm>
            <a:off x="0" y="0"/>
            <a:ext cx="12191695" cy="6858000"/>
          </a:xfrm>
          <a:prstGeom prst="rect">
            <a:avLst/>
          </a:prstGeom>
          <a:gradFill rotWithShape="1">
            <a:gsLst>
              <a:gs pos="0">
                <a:srgbClr val="050607">
                  <a:alpha val="70000"/>
                </a:srgbClr>
              </a:gs>
              <a:gs pos="100000">
                <a:srgbClr val="050607">
                  <a:alpha val="92000"/>
                </a:srgbClr>
              </a:gs>
            </a:gsLst>
            <a:lin scaled="0" ang="5400000"/>
          </a:gra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4" name="Rectangle 3"/>
          <p:cNvSpPr/>
          <p:nvPr/>
        </p:nvSpPr>
        <p:spPr>
          <a:xfrm>
            <a:off x="0" y="0"/>
            <a:ext cx="146304" cy="6345936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5" name="TextBox 4"/>
          <p:cNvSpPr txBox="1"/>
          <p:nvPr/>
        </p:nvSpPr>
        <p:spPr>
          <a:xfrm>
            <a:off x="777240" y="914400"/>
            <a:ext cx="10637215" cy="164592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28000"/>
              </a:lnSpc>
            </a:pPr>
            <a:r>
              <a:rPr sz="4600" b="1">
                <a:solidFill>
                  <a:srgbClr val="F4F5F7"/>
                </a:solidFill>
                <a:latin typeface="Vazirmatn"/>
                <a:ea typeface="Vazirmatn"/>
                <a:cs typeface="Vazirmatn"/>
              </a:rPr>
              <a:t>چلنجر آخرین نفس موتور بنزینی آمریکا بود</a:t>
            </a:r>
          </a:p>
        </p:txBody>
      </p:sp>
      <p:sp>
        <p:nvSpPr>
          <p:cNvPr id="6" name="rule"/>
          <p:cNvSpPr/>
          <p:nvPr/>
        </p:nvSpPr>
        <p:spPr>
          <a:xfrm>
            <a:off x="9494215" y="2724912"/>
            <a:ext cx="1920240" cy="41148"/>
          </a:xfrm>
          <a:prstGeom prst="rect">
            <a:avLst/>
          </a:prstGeom>
          <a:solidFill>
            <a:srgbClr val="E11D2E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/>
        </p:txBody>
      </p:sp>
      <p:sp>
        <p:nvSpPr>
          <p:cNvPr id="7" name="TextBox 6"/>
          <p:cNvSpPr txBox="1"/>
          <p:nvPr/>
        </p:nvSpPr>
        <p:spPr>
          <a:xfrm>
            <a:off x="777240" y="2944368"/>
            <a:ext cx="10637215" cy="777240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55000"/>
              </a:lnSpc>
            </a:pPr>
            <a:r>
              <a:rPr sz="1750" b="0">
                <a:solidFill>
                  <a:srgbClr val="C8CDD6"/>
                </a:solidFill>
                <a:latin typeface="Vazirmatn"/>
                <a:ea typeface="Vazirmatn"/>
                <a:cs typeface="Vazirmatn"/>
              </a:rPr>
              <a:t>دوج دسامبر ۲۰۲۳ خط برامپتون را بست تا برای نسل برقی جا باز کند؛ آنچه ماند یک صدا و یک عدد بود: ۱٬۰۲۵ اسب بخار.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777240" y="5504688"/>
            <a:ext cx="10637215" cy="786384"/>
          </a:xfrm>
          <a:prstGeom prst="rect">
            <a:avLst/>
          </a:prstGeom>
          <a:noFill/>
        </p:spPr>
        <p:txBody>
          <a:bodyPr wrap="square" lIns="0" rIns="0" tIns="0" bIns="0" anchor="t"/>
          <a:lstStyle/>
          <a:p>
            <a:pPr rtl="1" algn="r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منابع: بیانیهٔ مطبوعاتی Dodge / Stellantis (مارس ۲۰۲۳)؛ Edmunds؛ Road &amp; Track؛ GoodCarBadCar؛ ویکی‌پدیای Dodge Challenger.</a:t>
            </a:r>
          </a:p>
          <a:p>
            <a:pPr rtl="1" algn="r">
              <a:lnSpc>
                <a:spcPct val="145000"/>
              </a:lnSpc>
              <a:spcAft>
                <a:spcPts val="200"/>
              </a:spcAft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تصاویر: آرشیو عمومی (Carscoops، HotCars، Curbside Classic) — حقوق تصاویر متعلق به صاحبان اصلی است.</a:t>
            </a:r>
          </a:p>
          <a:p>
            <a:pPr rtl="1" algn="r">
              <a:lnSpc>
                <a:spcPct val="145000"/>
              </a:lnSpc>
            </a:pPr>
            <a:r>
              <a:rPr sz="1050" b="0">
                <a:solidFill>
                  <a:srgbClr val="6B7480"/>
                </a:solidFill>
                <a:latin typeface="Vazirmatn"/>
                <a:ea typeface="Vazirmatn"/>
                <a:cs typeface="Vazirmatn"/>
              </a:rPr>
              <a:t>فونت Vazirmatn داخل پوشهٔ fonts همراه فایل است؛ پیش از باز کردن دک آن را نصب کنید.</a:t>
            </a:r>
          </a:p>
        </p:txBody>
      </p:sp>
    </p:spTree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